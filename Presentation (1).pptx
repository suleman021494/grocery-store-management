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94" r:id="rId6"/>
    <p:sldId id="262" r:id="rId7"/>
    <p:sldId id="263" r:id="rId8"/>
    <p:sldId id="264" r:id="rId9"/>
    <p:sldId id="267" r:id="rId10"/>
    <p:sldId id="268" r:id="rId11"/>
    <p:sldId id="269" r:id="rId12"/>
    <p:sldId id="274" r:id="rId13"/>
    <p:sldId id="275" r:id="rId14"/>
    <p:sldId id="280" r:id="rId15"/>
    <p:sldId id="281" r:id="rId16"/>
    <p:sldId id="283" r:id="rId17"/>
    <p:sldId id="287" r:id="rId18"/>
    <p:sldId id="291" r:id="rId19"/>
    <p:sldId id="292" r:id="rId20"/>
    <p:sldId id="293" r:id="rId21"/>
  </p:sldIdLst>
  <p:sldSz cx="12192000" cy="6858000"/>
  <p:notesSz cx="6858000" cy="9144000"/>
  <p:embeddedFontLs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1869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33864" y="3347049"/>
            <a:ext cx="724618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Grocery Store Management System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0000"/>
            <a:ext cx="1127760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CC0000"/>
                </a:solidFill>
                <a:latin typeface="Calibri"/>
              </a:rPr>
              <a:t>About me</a:t>
            </a:r>
            <a:endParaRPr lang="en-IN" sz="3600" b="1" dirty="0">
              <a:solidFill>
                <a:srgbClr val="CC0000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3BF7C-EBD8-A2BA-21B0-9F9D91924C06}"/>
              </a:ext>
            </a:extLst>
          </p:cNvPr>
          <p:cNvSpPr txBox="1"/>
          <p:nvPr/>
        </p:nvSpPr>
        <p:spPr>
          <a:xfrm>
            <a:off x="938981" y="882445"/>
            <a:ext cx="4281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Our Team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F1E8D-0C3B-1682-C0C9-2F918CE9543C}"/>
              </a:ext>
            </a:extLst>
          </p:cNvPr>
          <p:cNvSpPr txBox="1"/>
          <p:nvPr/>
        </p:nvSpPr>
        <p:spPr>
          <a:xfrm>
            <a:off x="1976284" y="1437946"/>
            <a:ext cx="59878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 Shaik Suleman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: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Btech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(IT)</a:t>
            </a:r>
          </a:p>
          <a:p>
            <a:pPr fontAlgn="base"/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Linkedln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:www.linkedin.com/in/shaiksuleman123</a:t>
            </a:r>
          </a:p>
          <a:p>
            <a:pPr fontAlgn="base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 L Bharadwaja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: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Btech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(MECH)</a:t>
            </a:r>
          </a:p>
          <a:p>
            <a:pPr fontAlgn="base"/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Linkedln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:https://www.linkedin.com/in/lingineni-bharadwaja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250000"/>
            <a:ext cx="112776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C0000"/>
                </a:solidFill>
                <a:latin typeface="Calibri"/>
              </a:rPr>
              <a:t>Agenda</a:t>
            </a:r>
          </a:p>
        </p:txBody>
      </p:sp>
      <p:sp>
        <p:nvSpPr>
          <p:cNvPr id="2" name="tb"/>
          <p:cNvSpPr txBox="1"/>
          <p:nvPr/>
        </p:nvSpPr>
        <p:spPr>
          <a:xfrm>
            <a:off x="289559" y="1050000"/>
            <a:ext cx="5634801" cy="309311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en-IN" sz="1800" b="1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 &amp; Domain Overview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en-IN" sz="1800" b="1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&amp; ER Diagram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en-IN" sz="1800" b="1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en-IN" sz="1800" b="1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en-IN" sz="1800" b="1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&amp; Order Trends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 </a:t>
            </a:r>
          </a:p>
          <a:p>
            <a:pPr marL="285750" lvl="0" indent="-285750">
              <a:spcBef>
                <a:spcPts val="150"/>
              </a:spcBef>
              <a:buSzPts val="18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</a:t>
            </a:r>
          </a:p>
          <a:p>
            <a:pPr marL="285750" lvl="0" indent="-285750">
              <a:spcBef>
                <a:spcPts val="150"/>
              </a:spcBef>
              <a:buSzPts val="18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Deep Dive</a:t>
            </a:r>
          </a:p>
          <a:p>
            <a:pPr marL="285750" lvl="0" indent="-285750">
              <a:spcBef>
                <a:spcPts val="150"/>
              </a:spcBef>
              <a:buSzPts val="18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Conclusion</a:t>
            </a:r>
          </a:p>
          <a:p>
            <a:pPr marL="285750" lvl="0" indent="-285750">
              <a:spcBef>
                <a:spcPts val="150"/>
              </a:spcBef>
              <a:buSzPts val="18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sz="1800" b="1" i="0" u="none" strike="noStrike" cap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b"/>
          <p:cNvSpPr txBox="1"/>
          <p:nvPr/>
        </p:nvSpPr>
        <p:spPr>
          <a:xfrm>
            <a:off x="6100000" y="1050000"/>
            <a:ext cx="5600000" cy="369291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800" b="1" i="0" u="none" strike="noStrike" cap="none" dirty="0">
                <a:solidFill>
                  <a:srgbClr val="CC0000"/>
                </a:solidFill>
                <a:latin typeface="Calibri"/>
              </a:rPr>
              <a:t>  </a:t>
            </a:r>
            <a:endParaRPr lang="en-IN" sz="1800" b="0" i="0" u="none" strike="noStrike" cap="none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250000"/>
            <a:ext cx="112776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C0000"/>
                </a:solidFill>
                <a:latin typeface="Calibri"/>
              </a:rPr>
              <a:t>Project Objective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1050000"/>
            <a:ext cx="11277600" cy="5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800" b="1" i="0" u="none" strike="noStrike" cap="none" dirty="0">
                <a:solidFill>
                  <a:srgbClr val="CC0000"/>
                </a:solidFill>
                <a:latin typeface="Calibri"/>
              </a:rPr>
              <a:t>Domain Overview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Calibri"/>
              </a:rPr>
              <a:t>The Retail &amp; Grocery domain requires managing inventory, suppliers, customer orders, employees, and product categories. Effective SQL-driven data management enables businesses to track sales, monitor product availability, analyze customer behaviour, and improve operational efficiency.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800" b="1" i="0" u="none" strike="noStrike" cap="none" dirty="0">
                <a:solidFill>
                  <a:srgbClr val="CC0000"/>
                </a:solidFill>
                <a:latin typeface="Calibri"/>
              </a:rPr>
              <a:t>Project Goals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Calibri"/>
              </a:rPr>
              <a:t>Design and implement a normalized relational database for a grocery store (7 tables)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Calibri"/>
              </a:rPr>
              <a:t>Write SQL queries to retrieve, aggregate, and analyze transactional data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Calibri"/>
              </a:rPr>
              <a:t>Perform business analysis: identify top customers, best-selling products, revenue trends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Calibri"/>
              </a:rPr>
              <a:t>Evaluate supplier contribution, employee performance, and order-level pricing behavior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Calibri"/>
              </a:rPr>
              <a:t>Practice JOINs, GROUP BY, subqueries, window functions, and CASE statements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7102-09ED-F5E1-523A-A2DBCC5F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-10731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ER DIAGRAM</a:t>
            </a:r>
            <a:endParaRPr lang="en-IN" sz="36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195CE-CABF-2F6F-AC9D-09C66CB2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58" y="972185"/>
            <a:ext cx="8896722" cy="441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2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How many unique customers have placed orders?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20000" y="980000"/>
            <a:ext cx="5900000" cy="288793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156 unique customers have placed at least one order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i="1" dirty="0">
              <a:solidFill>
                <a:srgbClr val="1F497D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0" i="1" u="none" strike="noStrike" cap="none" dirty="0">
              <a:solidFill>
                <a:srgbClr val="1F497D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i="1" dirty="0">
              <a:solidFill>
                <a:srgbClr val="1F497D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0" i="1" u="none" strike="noStrike" cap="none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Use COUNT(DISTINCT cust_id) on the orders table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DISTINCT ensures each customer is counted once regardless of order frequency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156 unique customers indicates strong customer base and engagement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Not all registered customers may have ordered — gap worth investigating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Baseline metric for customer acquisition and retention 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301F3-CDD3-C6DC-6416-34D8E7D2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0" y="3035036"/>
            <a:ext cx="5799323" cy="1272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5D941B-C1FB-1134-21EC-2CB05126D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303367"/>
            <a:ext cx="5638800" cy="744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Which customers placed the highest number of orders?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2644273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lvl="0">
              <a:spcBef>
                <a:spcPts val="20"/>
              </a:spcBef>
              <a:buSzPts val="1800"/>
            </a:pPr>
            <a:endParaRPr lang="en-US" sz="1200" b="1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endParaRPr lang="en-US" sz="1200" b="1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lvl="0">
              <a:spcBef>
                <a:spcPts val="20"/>
              </a:spcBef>
              <a:buSzPts val="1800"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Jyotika placed the highest number of orders (7 orders)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customers with orders on cust_id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COUNT(*) for order frequency per customer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ORDER BY DESC to rank from highest to lowest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Jyotika (7 orders) represents the most loyal, high-frequency customer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Frequent buyers are prime candidates for loyalty programs and early access offers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Monitoring top customers helps predict demand and personalize engagement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F6A9E-F77B-25CD-FDC7-CEA68FF4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01" y="1359856"/>
            <a:ext cx="5554139" cy="166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440D5-93D1-9C01-A9BE-CA34E4BBF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35" y="3738980"/>
            <a:ext cx="4243862" cy="680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What is the total and average purchase value per customer?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20000" y="631024"/>
            <a:ext cx="5900000" cy="301617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3-table JOIN: customers → orders → order_details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SUM(total_price) for lifetime value; AVG for basket insight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GROUP BY customer name to get per-customer breakdown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Total purchase value identifies high-value customers worth retaining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Average purchase reveals basket size — large avg = higher spend per visit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Customers with high total but low avg placed many small orders (frequency buyers)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2E047-3B84-8686-8FC6-A7363707D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05318"/>
            <a:ext cx="5653200" cy="2380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FD294-BE81-8FD0-A845-9AE4B140E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75" y="3647194"/>
            <a:ext cx="3254825" cy="1798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How many products exist in each category?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322135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Grains &amp; Cereals (18), Snacks &amp; Confectioneries (17), Household (3 — lowest)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categories with products on cat_id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COUNT(prod_id) grouped by category name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ORDER BY DESC to see largest categories first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Grains &amp; Cereals dominates the catalog with 18 products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Household has only 3 products — a significant gap and expansion opportunity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Uneven distribution may affect customer choice in underrepresented 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E2F86-7CF4-13FD-A7DD-D07010FFC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98239"/>
            <a:ext cx="4748209" cy="1934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0EB9BD-C111-A44B-F1D0-3AD3C3A9D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404" y="4089750"/>
            <a:ext cx="3320393" cy="14831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Which products have the highest total sales volume (by quantity)?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20000" y="1147148"/>
            <a:ext cx="5900000" cy="3375243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Bath Soap ranks #1 with 60 units sold in total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products with order_details on prod_id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SUM(quantity) to get total units moved per product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DENSE_RANK() can identify top-N without gaps in ranking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Bath Soap (60 units) is the highest-demand product by volume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High-volume products need stronger inventory replenishment planning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Sales volume leaders are not always the highest revenue generators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C6570-B219-D5FE-DA81-AF7F0AAEA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3349"/>
            <a:ext cx="3111910" cy="25885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916F6E-16B5-562C-29E8-0392ED2E1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842" y="4643819"/>
            <a:ext cx="2846158" cy="6444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What is the total revenue generated by each product?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2413441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High-priced items (Ghee ₹487, Paneer ₹484) rank highest in revenue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296487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  <a:endParaRPr lang="en-IN" sz="1500" b="0" i="0" u="none" strike="noStrike" cap="none" dirty="0">
              <a:solidFill>
                <a:schemeClr val="dk1"/>
              </a:solidFill>
              <a:latin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SUM(total_price) per product gives lifetime revenue contribution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Compare with volume rankings to find high-value vs high-volume split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Revenue leaders are premium-priced products, not just high-volume ones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Products like Ghee and Paneer command higher per-unit prices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Balancing volume and revenue helps optimize promotional pricing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ECF6E-6BBE-499A-B331-7871084C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1026"/>
            <a:ext cx="5225007" cy="1388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8AE836-4C7C-64DE-2183-F21EF9A3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734" y="3126287"/>
            <a:ext cx="2086473" cy="20131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What is the average </a:t>
            </a:r>
            <a:r>
              <a:rPr lang="en-IN" sz="2400" b="1" dirty="0">
                <a:solidFill>
                  <a:srgbClr val="CC0000"/>
                </a:solidFill>
                <a:latin typeface="Calibri"/>
              </a:rPr>
              <a:t>v</a:t>
            </a: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alue per  order 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2451913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Average order value reveals typical basket size per transaction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Subquery: SUM(total_price) per ord_id in order_details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Outer query: AVG over all order totals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Two-step aggregation — critical for accurate per-order averaging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Average order value is a key retail KPI for measuring basket size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Targeted promotions can increase AOV (bundle offers, minimum order thresholds)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Comparing AOV by customer segment reveals spend behavior differences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82F65-9055-3286-EF54-2422DA13C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46" y="1295214"/>
            <a:ext cx="3566469" cy="1455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7AA6C7-50B4-0E70-42F2-D27D794FB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243" y="3619477"/>
            <a:ext cx="3596237" cy="12046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What are the monthly trends in order volume and revenue?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41138" y="641624"/>
            <a:ext cx="5601185" cy="3759963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December = highest orders (32); January = highest revenue (₹70,312)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SUBSTRING(order_date,1,7) extracts YYYY-MM from VARCHAR date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orders with order_details to get revenue per month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GROUP BY and ORDER BY month for chronological trend view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December peaks in volume — festive/holiday season demand spike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January highest in revenue — possibly higher-priced purchases post-holiday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April and October showed weakest performance — opportunity for promotions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Revenue does not always track with order count — basket size varies by month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D4E7E-B72B-7393-CBF6-C1FA90B3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28763"/>
            <a:ext cx="5772572" cy="2528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48E90-0A58-56A2-E24C-DD0A16D6B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667" y="4130801"/>
            <a:ext cx="2705334" cy="13412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What is the average product price per supplier?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2482691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200" dirty="0">
              <a:solidFill>
                <a:srgbClr val="1F497D"/>
              </a:solidFill>
              <a:latin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200" b="0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200" dirty="0">
              <a:solidFill>
                <a:srgbClr val="1F497D"/>
              </a:solidFill>
              <a:latin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200" b="0" i="0" u="none" strike="noStrike" cap="none" dirty="0">
              <a:solidFill>
                <a:srgbClr val="1F497D"/>
              </a:solidFill>
              <a:latin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200" dirty="0">
              <a:solidFill>
                <a:srgbClr val="1F497D"/>
              </a:solidFill>
              <a:latin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200" dirty="0">
              <a:solidFill>
                <a:srgbClr val="1F497D"/>
              </a:solidFill>
              <a:latin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Significant variation in avg price across suppliers reveals product tier differences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products with supplier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AVG(price) per supplier to measure typical price point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ORDER BY DESC shows premium suppliers at the top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Suppliers with high avg price deal in premium or specialized products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Price-per-supplier comparison guides negotiation and margin planning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Lower avg-price suppliers may offer volume-friendly, budget-tier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659F3-9D61-46C7-D749-E262E45D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42" y="1412197"/>
            <a:ext cx="3898779" cy="1253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C239DA-4CAC-E56B-52A9-0FFC6D734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015" y="3588968"/>
            <a:ext cx="1729890" cy="11888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121920" y="147188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 Which suppliers contribute the most to total product sales?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0838" y="980000"/>
            <a:ext cx="5900000" cy="4567877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Aarya contributes the highest revenue at ₹2,21,137 — clearly dominant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products → supplier + products → order_details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SUM(total_price) per supplier for lifetime revenue contribution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ORDER BY DESC reveals the supplier revenue hierarchy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Aarya accounts for the largest share of revenue — a mission-critical supplier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High revenue contribution does not always equal highest product count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Maintaining strong Aarya relationship is essential for business continuity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Other suppliers may be underpenetrated — opportunity to push more of their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A1DE0-C25E-5ACE-2BAB-992595FC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33" y="1310123"/>
            <a:ext cx="3901778" cy="3391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C07D2D-4C94-6729-B1B3-25B236810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838" y="4252035"/>
            <a:ext cx="278916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Which employees have handled the most orders?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3259826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Diya Sharma handled the most orders (38);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JOIN employees with orders on emp_id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COUNT(ord_id) per employee for workload measurement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ORDER BY DESC ranks employees by order volume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Diya Sharma and Aditya Singh are the highest-volume processors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Order volume is fairly distributed among top employees — balanced workload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High order handlers may benefit from performance bonuses and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05681-FDBF-0E45-7C26-A1289D1C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00" y="1310639"/>
            <a:ext cx="3520745" cy="2200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94DFA4-301A-600B-9B77-E8BD8FC2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172" y="4243354"/>
            <a:ext cx="3073313" cy="8213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180000"/>
            <a:ext cx="11277600" cy="461624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400" b="1" i="0" u="none" strike="noStrike" cap="none" dirty="0">
                <a:solidFill>
                  <a:srgbClr val="CC0000"/>
                </a:solidFill>
                <a:latin typeface="Calibri"/>
              </a:rPr>
              <a:t>What is the relationship between quantity ordered and total price?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980000"/>
            <a:ext cx="5900000" cy="29520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SQL Query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i="0" u="none" strike="noStrike" cap="none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endParaRPr lang="en-IN" sz="1500" b="1" dirty="0">
              <a:solidFill>
                <a:srgbClr val="CC0000"/>
              </a:solidFill>
              <a:latin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Result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0" i="1" u="none" strike="noStrike" cap="none" dirty="0">
                <a:solidFill>
                  <a:srgbClr val="1F497D"/>
                </a:solidFill>
                <a:latin typeface="Calibri"/>
              </a:rPr>
              <a:t>Result: All records show price_check = 'Correct' — pricing is fully consistent</a:t>
            </a:r>
          </a:p>
        </p:txBody>
      </p:sp>
      <p:sp>
        <p:nvSpPr>
          <p:cNvPr id="99" name="div"/>
          <p:cNvSpPr>
            <a:spLocks noGrp="1"/>
          </p:cNvSpPr>
          <p:nvPr/>
        </p:nvSpPr>
        <p:spPr>
          <a:xfrm>
            <a:off x="6320000" y="980000"/>
            <a:ext cx="50000" cy="55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 txBox="1"/>
          <p:nvPr/>
        </p:nvSpPr>
        <p:spPr>
          <a:xfrm>
            <a:off x="6500000" y="980000"/>
            <a:ext cx="5249200" cy="56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Approach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Calculate expected_total = each_price × quantity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CASE statement compares computed vs stored total_price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Flags any discrepancy as 'Not Correct' for data audit purposes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500" b="1" i="0" u="none" strike="noStrike" cap="none" dirty="0">
                <a:solidFill>
                  <a:srgbClr val="CC0000"/>
                </a:solidFill>
                <a:latin typeface="Calibri"/>
              </a:rPr>
              <a:t>Key Insights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100% price consistency validates data integrity across all order lines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No hidden discounts or pricing anomalies detected in the dataset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00" b="0" i="0" u="none" strike="noStrike" cap="none" dirty="0">
                <a:solidFill>
                  <a:schemeClr val="dk1"/>
                </a:solidFill>
                <a:latin typeface="Calibri"/>
              </a:rPr>
              <a:t>This audit technique is reusable for ongoing data quality monitoring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F7781-C9D0-CA9B-8D0B-F1362FC0D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83" y="1240404"/>
            <a:ext cx="4518837" cy="1738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3A75E4-DBED-EBC9-D252-A0BA4E5D6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012" y="3817887"/>
            <a:ext cx="2263336" cy="11812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250000"/>
            <a:ext cx="112776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C0000"/>
                </a:solidFill>
                <a:latin typeface="Calibri"/>
              </a:rPr>
              <a:t>Challenges Faced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1050000"/>
            <a:ext cx="5700000" cy="5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Multi-table JOINs: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Understanding relationships across 7 tables and applying the correct JOIN logic for each business question.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FK Constraints: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Ensuring CASCADE rules on all foreign keys while maintaining data integrity during inserts and updates.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Complex Aggregations: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Writing aggregations (SUM, AVG, COUNT) across deeply joined tables without double-counting order details.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VARCHAR Dates: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order_date stored as VARCHAR — required SUBSTRING() for month extraction and DAYOFWEEK(DATE()) for weekday logic.</a:t>
            </a:r>
          </a:p>
        </p:txBody>
      </p:sp>
      <p:sp>
        <p:nvSpPr>
          <p:cNvPr id="3" name="tb"/>
          <p:cNvSpPr txBox="1"/>
          <p:nvPr/>
        </p:nvSpPr>
        <p:spPr>
          <a:xfrm>
            <a:off x="6300000" y="1050000"/>
            <a:ext cx="5400000" cy="5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Window Functions: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Applying DENSE_RANK() correctly to rank customers, employees, and suppliers without gaps in ranking.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Validating Results: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Cross-checking total_price = each_price × quantity for all records to confirm data accuracy.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Char char="•"/>
            </a:pPr>
            <a:r>
              <a:rPr lang="en-IN" sz="1550" b="1" i="0" u="none" strike="noStrike" cap="none" dirty="0">
                <a:solidFill>
                  <a:srgbClr val="CC0000"/>
                </a:solidFill>
                <a:latin typeface="Calibri"/>
              </a:rPr>
              <a:t>Insight Interpretation: </a:t>
            </a:r>
            <a:r>
              <a:rPr lang="en-IN" sz="1550" b="0" i="0" u="none" strike="noStrike" cap="none" dirty="0">
                <a:solidFill>
                  <a:schemeClr val="dk1"/>
                </a:solidFill>
                <a:latin typeface="Calibri"/>
              </a:rPr>
              <a:t>Translating raw query outputs into meaningful business recommendations rather than just reporting numbers.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"/>
          <p:cNvSpPr txBox="1"/>
          <p:nvPr/>
        </p:nvSpPr>
        <p:spPr>
          <a:xfrm>
            <a:off x="457200" y="250000"/>
            <a:ext cx="11277600" cy="7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C0000"/>
                </a:solidFill>
                <a:latin typeface="Calibri"/>
              </a:rPr>
              <a:t>Conclusion</a:t>
            </a:r>
          </a:p>
        </p:txBody>
      </p:sp>
      <p:sp>
        <p:nvSpPr>
          <p:cNvPr id="2" name="tb"/>
          <p:cNvSpPr txBox="1"/>
          <p:nvPr/>
        </p:nvSpPr>
        <p:spPr>
          <a:xfrm>
            <a:off x="457200" y="1050000"/>
            <a:ext cx="11277600" cy="5500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</a:rPr>
              <a:t>This project successfully leveraged SQL to design a robust Grocery Store Management Database and transform transactional data into actionable business insights. By building 7 interrelated tables and writing analytical queries across 6 business domains, we gained a comprehensive view of customer behaviour, product performance, sales trends, supplier contribution, and employee efficiency.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</a:rPr>
              <a:t>The analysis demonstrates how structured query language — combined with joins, aggregations, window functions, and conditional logic — can drive data-driven decision-making in a retail context. Every insight derived directly supports real business actions: targeted loyalty programs, smarter inventory planning, supplier negotiations, and employee performance management.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2000" b="1" i="0" u="none" strike="noStrike" cap="none" dirty="0">
                <a:solidFill>
                  <a:srgbClr val="CC0000"/>
                </a:solidFill>
                <a:latin typeface="Calibri"/>
              </a:rPr>
              <a:t>Bottom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IN" sz="1800" b="0" i="1" u="none" strike="noStrike" cap="none" dirty="0">
                <a:solidFill>
                  <a:srgbClr val="555555"/>
                </a:solidFill>
                <a:latin typeface="Calibri"/>
              </a:rPr>
              <a:t>SQL is not just a querying tool — it is the foundation of business intelligence. This project proves that even a small, well-designed database can unlock powerful, data-driven insights when the right questions are asked.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1587</Words>
  <Application>Microsoft Office PowerPoint</Application>
  <PresentationFormat>Widescreen</PresentationFormat>
  <Paragraphs>291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Wingdings</vt:lpstr>
      <vt:lpstr>Libre Baskerville</vt:lpstr>
      <vt:lpstr>Times New Roman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ER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SHAIK SULEMAN</cp:lastModifiedBy>
  <cp:revision>2</cp:revision>
  <dcterms:created xsi:type="dcterms:W3CDTF">2021-02-16T05:19:01Z</dcterms:created>
  <dcterms:modified xsi:type="dcterms:W3CDTF">2026-06-27T09:25:55Z</dcterms:modified>
</cp:coreProperties>
</file>